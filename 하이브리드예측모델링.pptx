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63" r:id="rId2"/>
    <p:sldId id="264" r:id="rId3"/>
    <p:sldId id="265" r:id="rId4"/>
    <p:sldId id="266" r:id="rId5"/>
  </p:sldIdLst>
  <p:sldSz cx="18288000" cy="10287000"/>
  <p:notesSz cx="6858000" cy="9144000"/>
  <p:embeddedFontLst>
    <p:embeddedFont>
      <p:font typeface="Source Han Sans KR" panose="020B0600000101010101" charset="-127"/>
      <p:regular r:id="rId7"/>
    </p:embeddedFont>
    <p:embeddedFont>
      <p:font typeface="Source Han Sans KR Bold" panose="020B0600000101010101" charset="-127"/>
      <p:regular r:id="rId8"/>
    </p:embeddedFont>
    <p:embeddedFont>
      <p:font typeface="Source Han Sans KR Heavy" panose="020B0600000101010101" charset="-127"/>
      <p:regular r:id="rId9"/>
    </p:embeddedFont>
    <p:embeddedFont>
      <p:font typeface="Source Han Sans KR Medium" panose="020B0600000101010101" charset="-127"/>
      <p:regular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00AD"/>
    <a:srgbClr val="5170FF"/>
    <a:srgbClr val="05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50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1437A-980C-441A-AE76-7E51F5718AFB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7EF91-8E05-4763-B463-DE8C69CC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20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2717" y="9443798"/>
            <a:ext cx="17242565" cy="0"/>
          </a:xfrm>
          <a:prstGeom prst="line">
            <a:avLst/>
          </a:prstGeom>
          <a:ln w="19050" cap="flat">
            <a:solidFill>
              <a:srgbClr val="222222">
                <a:alpha val="1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 rot="-18144">
            <a:off x="5428605" y="1251335"/>
            <a:ext cx="7431394" cy="895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05"/>
              </a:lnSpc>
            </a:pPr>
            <a:r>
              <a:rPr lang="en-US" sz="6672" b="1" spc="-340">
                <a:solidFill>
                  <a:srgbClr val="22222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My Project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717296" y="4154653"/>
            <a:ext cx="7093329" cy="5103647"/>
            <a:chOff x="0" y="0"/>
            <a:chExt cx="2143058" cy="15419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3058" cy="1541929"/>
            </a:xfrm>
            <a:custGeom>
              <a:avLst/>
              <a:gdLst/>
              <a:ahLst/>
              <a:cxnLst/>
              <a:rect l="l" t="t" r="r" b="b"/>
              <a:pathLst>
                <a:path w="2143058" h="1541929">
                  <a:moveTo>
                    <a:pt x="0" y="0"/>
                  </a:moveTo>
                  <a:lnTo>
                    <a:pt x="2143058" y="0"/>
                  </a:lnTo>
                  <a:lnTo>
                    <a:pt x="2143058" y="1541929"/>
                  </a:lnTo>
                  <a:lnTo>
                    <a:pt x="0" y="154192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43058" cy="15895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10084" y="5395363"/>
            <a:ext cx="6125251" cy="2931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250" b="1" spc="-114" dirty="0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Music &amp; Mental Health </a:t>
            </a:r>
            <a:r>
              <a:rPr lang="en-US" sz="2250" b="1" spc="-114" dirty="0" err="1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하이브리드</a:t>
            </a:r>
            <a:r>
              <a:rPr lang="en-US" sz="2250" b="1" spc="-114" dirty="0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250" b="1" spc="-114" dirty="0" err="1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분석</a:t>
            </a:r>
            <a:endParaRPr lang="en-US" sz="2250" b="1" spc="-114" dirty="0">
              <a:solidFill>
                <a:srgbClr val="222222">
                  <a:alpha val="61961"/>
                </a:srgb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l">
              <a:lnSpc>
                <a:spcPts val="3285"/>
              </a:lnSpc>
            </a:pPr>
            <a:endParaRPr lang="en-US" sz="2250" b="1" spc="-114" dirty="0">
              <a:solidFill>
                <a:srgbClr val="222222">
                  <a:alpha val="61961"/>
                </a:srgb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485775" lvl="1" indent="-242888" algn="l">
              <a:lnSpc>
                <a:spcPts val="3285"/>
              </a:lnSpc>
              <a:buFont typeface="Arial"/>
              <a:buChar char="•"/>
            </a:pP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Topic: </a:t>
            </a:r>
            <a:r>
              <a:rPr lang="en-US" sz="2250" b="1" spc="-114" dirty="0" err="1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정신건강</a:t>
            </a:r>
            <a:r>
              <a:rPr lang="en-US" sz="2250" b="1" spc="-114" dirty="0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250" b="1" spc="-114" dirty="0" err="1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유형</a:t>
            </a:r>
            <a:r>
              <a:rPr lang="en-US" sz="2250" b="1" spc="-114" dirty="0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(Cluster) </a:t>
            </a:r>
            <a:r>
              <a:rPr lang="en-US" sz="2250" b="1" spc="-114" dirty="0" err="1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예측</a:t>
            </a:r>
            <a:r>
              <a:rPr lang="en-US" sz="2250" b="1" spc="-114" dirty="0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2250" b="1" spc="-114" dirty="0" err="1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모델링</a:t>
            </a:r>
            <a:endParaRPr lang="en-US" sz="2250" b="1" spc="-114" dirty="0">
              <a:solidFill>
                <a:srgbClr val="222222">
                  <a:alpha val="61961"/>
                </a:srgb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marL="485775" lvl="1" indent="-242888" algn="l">
              <a:lnSpc>
                <a:spcPts val="3285"/>
              </a:lnSpc>
              <a:buFont typeface="Arial"/>
              <a:buChar char="•"/>
            </a:pP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Data: 33개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컬럼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736명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설문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데이터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                           (3-Class Imbalanced Data)</a:t>
            </a:r>
          </a:p>
          <a:p>
            <a:pPr marL="485775" lvl="1" indent="-242888" algn="l">
              <a:lnSpc>
                <a:spcPts val="3285"/>
              </a:lnSpc>
              <a:buFont typeface="Arial"/>
              <a:buChar char="•"/>
            </a:pP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Role: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데이터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전처리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가설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수립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모델링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성과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도출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</a:p>
          <a:p>
            <a:pPr marL="242887" lvl="1" algn="l">
              <a:lnSpc>
                <a:spcPts val="3285"/>
              </a:lnSpc>
            </a:pP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             (2인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리딩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77375" y="4083817"/>
            <a:ext cx="7093329" cy="5103647"/>
            <a:chOff x="0" y="0"/>
            <a:chExt cx="2143058" cy="15419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43058" cy="1541929"/>
            </a:xfrm>
            <a:custGeom>
              <a:avLst/>
              <a:gdLst/>
              <a:ahLst/>
              <a:cxnLst/>
              <a:rect l="l" t="t" r="r" b="b"/>
              <a:pathLst>
                <a:path w="2143058" h="1541929">
                  <a:moveTo>
                    <a:pt x="0" y="0"/>
                  </a:moveTo>
                  <a:lnTo>
                    <a:pt x="2143058" y="0"/>
                  </a:lnTo>
                  <a:lnTo>
                    <a:pt x="2143058" y="1541929"/>
                  </a:lnTo>
                  <a:lnTo>
                    <a:pt x="0" y="154192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43058" cy="15895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777662" y="5395363"/>
            <a:ext cx="6492756" cy="365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분석 한계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상관계수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0.1 미만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의 선형 관계 부재</a:t>
            </a:r>
          </a:p>
          <a:p>
            <a:pPr algn="l">
              <a:lnSpc>
                <a:spcPts val="3285"/>
              </a:lnSpc>
            </a:pPr>
            <a:endParaRPr lang="en-US" sz="2250" spc="-114">
              <a:solidFill>
                <a:srgbClr val="222222">
                  <a:alpha val="61961"/>
                </a:srgbClr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l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모델링 실패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초기 분류 모델 정확도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61% 수준 정체</a:t>
            </a:r>
          </a:p>
          <a:p>
            <a:pPr algn="l">
              <a:lnSpc>
                <a:spcPts val="3285"/>
              </a:lnSpc>
            </a:pPr>
            <a:endParaRPr lang="en-US" sz="2250" b="1" spc="-114">
              <a:solidFill>
                <a:srgbClr val="222222">
                  <a:alpha val="61961"/>
                </a:srgb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l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관점 전환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k-means 군집화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도입을 통해 숨겨진 맥락 발굴</a:t>
            </a:r>
          </a:p>
          <a:p>
            <a:pPr algn="l">
              <a:lnSpc>
                <a:spcPts val="3285"/>
              </a:lnSpc>
            </a:pPr>
            <a:endParaRPr lang="en-US" sz="2250" spc="-114">
              <a:solidFill>
                <a:srgbClr val="222222">
                  <a:alpha val="61961"/>
                </a:srgbClr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l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가치 창출 : 목표 재정의(점수→유형 예측)를 통한 87% </a:t>
            </a:r>
          </a:p>
          <a:p>
            <a:pPr algn="l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                   정확도 달성</a:t>
            </a:r>
          </a:p>
          <a:p>
            <a:pPr algn="l">
              <a:lnSpc>
                <a:spcPts val="3285"/>
              </a:lnSpc>
            </a:pPr>
            <a:endParaRPr lang="en-US" sz="2250" b="1" spc="-114">
              <a:solidFill>
                <a:srgbClr val="222222">
                  <a:alpha val="61961"/>
                </a:srgbClr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717296" y="2593243"/>
            <a:ext cx="14853407" cy="1243763"/>
            <a:chOff x="0" y="0"/>
            <a:chExt cx="3912009" cy="3275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12009" cy="327576"/>
            </a:xfrm>
            <a:custGeom>
              <a:avLst/>
              <a:gdLst/>
              <a:ahLst/>
              <a:cxnLst/>
              <a:rect l="l" t="t" r="r" b="b"/>
              <a:pathLst>
                <a:path w="3912009" h="327576">
                  <a:moveTo>
                    <a:pt x="0" y="0"/>
                  </a:moveTo>
                  <a:lnTo>
                    <a:pt x="3912009" y="0"/>
                  </a:lnTo>
                  <a:lnTo>
                    <a:pt x="3912009" y="327576"/>
                  </a:lnTo>
                  <a:lnTo>
                    <a:pt x="0" y="327576"/>
                  </a:lnTo>
                  <a:close/>
                </a:path>
              </a:pathLst>
            </a:custGeom>
            <a:solidFill>
              <a:srgbClr val="0584C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912009" cy="375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334922" y="3023564"/>
            <a:ext cx="13637205" cy="47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6"/>
              </a:lnSpc>
            </a:pPr>
            <a:r>
              <a:rPr lang="en-US" sz="3819" b="1" spc="-232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데이터의 숨은 패턴을 찾아라: 하이브리드 모델링 프로젝트</a:t>
            </a:r>
          </a:p>
        </p:txBody>
      </p:sp>
      <p:sp>
        <p:nvSpPr>
          <p:cNvPr id="16" name="Freeform 16"/>
          <p:cNvSpPr/>
          <p:nvPr/>
        </p:nvSpPr>
        <p:spPr>
          <a:xfrm rot="5400000">
            <a:off x="11430604" y="5913551"/>
            <a:ext cx="379345" cy="255477"/>
          </a:xfrm>
          <a:custGeom>
            <a:avLst/>
            <a:gdLst/>
            <a:ahLst/>
            <a:cxnLst/>
            <a:rect l="l" t="t" r="r" b="b"/>
            <a:pathLst>
              <a:path w="379345" h="255477">
                <a:moveTo>
                  <a:pt x="0" y="0"/>
                </a:moveTo>
                <a:lnTo>
                  <a:pt x="379345" y="0"/>
                </a:lnTo>
                <a:lnTo>
                  <a:pt x="379345" y="255477"/>
                </a:lnTo>
                <a:lnTo>
                  <a:pt x="0" y="255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Freeform 17"/>
          <p:cNvSpPr/>
          <p:nvPr/>
        </p:nvSpPr>
        <p:spPr>
          <a:xfrm rot="5400000">
            <a:off x="11430604" y="6768411"/>
            <a:ext cx="379345" cy="255477"/>
          </a:xfrm>
          <a:custGeom>
            <a:avLst/>
            <a:gdLst/>
            <a:ahLst/>
            <a:cxnLst/>
            <a:rect l="l" t="t" r="r" b="b"/>
            <a:pathLst>
              <a:path w="379345" h="255477">
                <a:moveTo>
                  <a:pt x="0" y="0"/>
                </a:moveTo>
                <a:lnTo>
                  <a:pt x="379345" y="0"/>
                </a:lnTo>
                <a:lnTo>
                  <a:pt x="379345" y="255477"/>
                </a:lnTo>
                <a:lnTo>
                  <a:pt x="0" y="255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2099682" y="4578098"/>
            <a:ext cx="3868781" cy="43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375" spc="-205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Project Scope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29117" y="4578098"/>
            <a:ext cx="6199394" cy="43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375" spc="-205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Why This Project?</a:t>
            </a:r>
          </a:p>
        </p:txBody>
      </p:sp>
      <p:sp>
        <p:nvSpPr>
          <p:cNvPr id="20" name="Freeform 20"/>
          <p:cNvSpPr/>
          <p:nvPr/>
        </p:nvSpPr>
        <p:spPr>
          <a:xfrm rot="5400000">
            <a:off x="11430604" y="7576380"/>
            <a:ext cx="379345" cy="255477"/>
          </a:xfrm>
          <a:custGeom>
            <a:avLst/>
            <a:gdLst/>
            <a:ahLst/>
            <a:cxnLst/>
            <a:rect l="l" t="t" r="r" b="b"/>
            <a:pathLst>
              <a:path w="379345" h="255477">
                <a:moveTo>
                  <a:pt x="0" y="0"/>
                </a:moveTo>
                <a:lnTo>
                  <a:pt x="379345" y="0"/>
                </a:lnTo>
                <a:lnTo>
                  <a:pt x="379345" y="255478"/>
                </a:lnTo>
                <a:lnTo>
                  <a:pt x="0" y="255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13302" y="3632882"/>
            <a:ext cx="4453294" cy="1510618"/>
            <a:chOff x="0" y="0"/>
            <a:chExt cx="1345443" cy="456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5443" cy="456392"/>
            </a:xfrm>
            <a:custGeom>
              <a:avLst/>
              <a:gdLst/>
              <a:ahLst/>
              <a:cxnLst/>
              <a:rect l="l" t="t" r="r" b="b"/>
              <a:pathLst>
                <a:path w="1345443" h="456392">
                  <a:moveTo>
                    <a:pt x="0" y="0"/>
                  </a:moveTo>
                  <a:lnTo>
                    <a:pt x="1345443" y="0"/>
                  </a:lnTo>
                  <a:lnTo>
                    <a:pt x="1345443" y="456392"/>
                  </a:lnTo>
                  <a:lnTo>
                    <a:pt x="0" y="45639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45443" cy="504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6821" y="714375"/>
            <a:ext cx="14853407" cy="1243763"/>
            <a:chOff x="0" y="0"/>
            <a:chExt cx="3912009" cy="3275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12009" cy="327576"/>
            </a:xfrm>
            <a:custGeom>
              <a:avLst/>
              <a:gdLst/>
              <a:ahLst/>
              <a:cxnLst/>
              <a:rect l="l" t="t" r="r" b="b"/>
              <a:pathLst>
                <a:path w="3912009" h="327576">
                  <a:moveTo>
                    <a:pt x="0" y="0"/>
                  </a:moveTo>
                  <a:lnTo>
                    <a:pt x="3912009" y="0"/>
                  </a:lnTo>
                  <a:lnTo>
                    <a:pt x="3912009" y="327576"/>
                  </a:lnTo>
                  <a:lnTo>
                    <a:pt x="0" y="327576"/>
                  </a:lnTo>
                  <a:close/>
                </a:path>
              </a:pathLst>
            </a:custGeom>
            <a:solidFill>
              <a:srgbClr val="0584C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912009" cy="375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26821" y="2833853"/>
            <a:ext cx="3354464" cy="3035790"/>
          </a:xfrm>
          <a:custGeom>
            <a:avLst/>
            <a:gdLst/>
            <a:ahLst/>
            <a:cxnLst/>
            <a:rect l="l" t="t" r="r" b="b"/>
            <a:pathLst>
              <a:path w="3354464" h="3035790">
                <a:moveTo>
                  <a:pt x="0" y="0"/>
                </a:moveTo>
                <a:lnTo>
                  <a:pt x="3354464" y="0"/>
                </a:lnTo>
                <a:lnTo>
                  <a:pt x="3354464" y="3035790"/>
                </a:lnTo>
                <a:lnTo>
                  <a:pt x="0" y="3035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 rot="5400000">
            <a:off x="4998032" y="6488202"/>
            <a:ext cx="509928" cy="343421"/>
          </a:xfrm>
          <a:custGeom>
            <a:avLst/>
            <a:gdLst/>
            <a:ahLst/>
            <a:cxnLst/>
            <a:rect l="l" t="t" r="r" b="b"/>
            <a:pathLst>
              <a:path w="509928" h="343421">
                <a:moveTo>
                  <a:pt x="0" y="0"/>
                </a:moveTo>
                <a:lnTo>
                  <a:pt x="509928" y="0"/>
                </a:lnTo>
                <a:lnTo>
                  <a:pt x="509928" y="343421"/>
                </a:lnTo>
                <a:lnTo>
                  <a:pt x="0" y="343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5409694" y="3763351"/>
            <a:ext cx="4159793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Result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: 피어슨 상관계수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0.1 미만</a:t>
            </a:r>
          </a:p>
          <a:p>
            <a:pPr algn="l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Insight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음악 성취 시간과 정신건강 사이에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뚜렷한 선형 관계가 없음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44447" y="1144695"/>
            <a:ext cx="13637205" cy="47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6"/>
              </a:lnSpc>
            </a:pPr>
            <a:r>
              <a:rPr lang="en-US" sz="3819" b="1" spc="-232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데이터의 구조를 시각화하여 해답을 찾다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59113" y="5944159"/>
            <a:ext cx="5346428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4"/>
              </a:lnSpc>
            </a:pPr>
            <a:r>
              <a:rPr lang="en-US" sz="2249" spc="-114">
                <a:solidFill>
                  <a:srgbClr val="000000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그렇다면, 변수들을 조합해서 예측은 가능할까?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6821" y="7792564"/>
            <a:ext cx="3774060" cy="1465736"/>
            <a:chOff x="0" y="0"/>
            <a:chExt cx="5032080" cy="1954315"/>
          </a:xfrm>
        </p:grpSpPr>
        <p:sp>
          <p:nvSpPr>
            <p:cNvPr id="14" name="Freeform 14"/>
            <p:cNvSpPr/>
            <p:nvPr/>
          </p:nvSpPr>
          <p:spPr>
            <a:xfrm>
              <a:off x="2866379" y="0"/>
              <a:ext cx="2165702" cy="1954315"/>
            </a:xfrm>
            <a:custGeom>
              <a:avLst/>
              <a:gdLst/>
              <a:ahLst/>
              <a:cxnLst/>
              <a:rect l="l" t="t" r="r" b="b"/>
              <a:pathLst>
                <a:path w="2165702" h="1954315">
                  <a:moveTo>
                    <a:pt x="0" y="0"/>
                  </a:moveTo>
                  <a:lnTo>
                    <a:pt x="2165701" y="0"/>
                  </a:lnTo>
                  <a:lnTo>
                    <a:pt x="2165701" y="1954315"/>
                  </a:lnTo>
                  <a:lnTo>
                    <a:pt x="0" y="195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27837" r="-429715" b="-12283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2866379" cy="1954315"/>
            </a:xfrm>
            <a:custGeom>
              <a:avLst/>
              <a:gdLst/>
              <a:ahLst/>
              <a:cxnLst/>
              <a:rect l="l" t="t" r="r" b="b"/>
              <a:pathLst>
                <a:path w="2866379" h="1954315">
                  <a:moveTo>
                    <a:pt x="0" y="0"/>
                  </a:moveTo>
                  <a:lnTo>
                    <a:pt x="2866379" y="0"/>
                  </a:lnTo>
                  <a:lnTo>
                    <a:pt x="2866379" y="1954315"/>
                  </a:lnTo>
                  <a:lnTo>
                    <a:pt x="0" y="195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23482" b="-12283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04479" y="7858467"/>
            <a:ext cx="5002122" cy="2169759"/>
            <a:chOff x="0" y="0"/>
            <a:chExt cx="1511256" cy="6555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11256" cy="655534"/>
            </a:xfrm>
            <a:custGeom>
              <a:avLst/>
              <a:gdLst/>
              <a:ahLst/>
              <a:cxnLst/>
              <a:rect l="l" t="t" r="r" b="b"/>
              <a:pathLst>
                <a:path w="1511256" h="655534">
                  <a:moveTo>
                    <a:pt x="0" y="0"/>
                  </a:moveTo>
                  <a:lnTo>
                    <a:pt x="1511256" y="0"/>
                  </a:lnTo>
                  <a:lnTo>
                    <a:pt x="1511256" y="655534"/>
                  </a:lnTo>
                  <a:lnTo>
                    <a:pt x="0" y="65553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511256" cy="703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800152" y="7890296"/>
            <a:ext cx="4806449" cy="2085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불안도를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3-Class(</a:t>
            </a:r>
            <a:r>
              <a:rPr lang="ko-KR" alt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상</a:t>
            </a:r>
            <a:r>
              <a:rPr lang="en-US" altLang="ko-KR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중</a:t>
            </a:r>
            <a:r>
              <a:rPr lang="en-US" altLang="ko-KR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하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)로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단순화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</a:p>
          <a:p>
            <a:pPr algn="l">
              <a:lnSpc>
                <a:spcPts val="3285"/>
              </a:lnSpc>
            </a:pP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+ 타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정신건강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지표까지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투입</a:t>
            </a:r>
            <a:endParaRPr lang="en-US" sz="2250" spc="-114" dirty="0">
              <a:solidFill>
                <a:srgbClr val="222222">
                  <a:alpha val="61961"/>
                </a:srgbClr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l">
              <a:lnSpc>
                <a:spcPts val="3285"/>
              </a:lnSpc>
            </a:pPr>
            <a:r>
              <a:rPr lang="en-US" sz="2250" b="1" spc="-114" dirty="0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Result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: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여전히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b="1" spc="-114" dirty="0" err="1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정확도</a:t>
            </a:r>
            <a:r>
              <a:rPr lang="en-US" sz="2250" b="1" spc="-114" dirty="0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61%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수준의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상태</a:t>
            </a:r>
            <a:endParaRPr lang="en-US" sz="2250" spc="-114" dirty="0">
              <a:solidFill>
                <a:srgbClr val="222222">
                  <a:alpha val="61961"/>
                </a:srgbClr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l">
              <a:lnSpc>
                <a:spcPts val="3285"/>
              </a:lnSpc>
            </a:pPr>
            <a:r>
              <a:rPr lang="en-US" sz="2250" b="1" spc="-114" dirty="0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Insight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단순한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지도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학습으로는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데이터의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복잡성을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뚫을</a:t>
            </a:r>
            <a:r>
              <a:rPr lang="en-US" sz="2250" spc="-114" dirty="0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수 </a:t>
            </a:r>
            <a:r>
              <a:rPr lang="en-US" sz="2250" spc="-114" dirty="0" err="1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없음</a:t>
            </a:r>
            <a:endParaRPr lang="en-US" sz="2250" spc="-114" dirty="0">
              <a:solidFill>
                <a:srgbClr val="222222">
                  <a:alpha val="61961"/>
                </a:srgbClr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9718262" y="5401944"/>
            <a:ext cx="1477807" cy="995258"/>
          </a:xfrm>
          <a:custGeom>
            <a:avLst/>
            <a:gdLst/>
            <a:ahLst/>
            <a:cxnLst/>
            <a:rect l="l" t="t" r="r" b="b"/>
            <a:pathLst>
              <a:path w="1477807" h="995258">
                <a:moveTo>
                  <a:pt x="0" y="0"/>
                </a:moveTo>
                <a:lnTo>
                  <a:pt x="1477807" y="0"/>
                </a:lnTo>
                <a:lnTo>
                  <a:pt x="1477807" y="995258"/>
                </a:lnTo>
                <a:lnTo>
                  <a:pt x="0" y="995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1196069" y="3954692"/>
            <a:ext cx="5212123" cy="1170736"/>
            <a:chOff x="0" y="0"/>
            <a:chExt cx="1574702" cy="3537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4702" cy="353706"/>
            </a:xfrm>
            <a:custGeom>
              <a:avLst/>
              <a:gdLst/>
              <a:ahLst/>
              <a:cxnLst/>
              <a:rect l="l" t="t" r="r" b="b"/>
              <a:pathLst>
                <a:path w="1574702" h="353706">
                  <a:moveTo>
                    <a:pt x="0" y="0"/>
                  </a:moveTo>
                  <a:lnTo>
                    <a:pt x="1574702" y="0"/>
                  </a:lnTo>
                  <a:lnTo>
                    <a:pt x="1574702" y="353706"/>
                  </a:lnTo>
                  <a:lnTo>
                    <a:pt x="0" y="353706"/>
                  </a:lnTo>
                  <a:close/>
                </a:path>
              </a:pathLst>
            </a:custGeom>
            <a:solidFill>
              <a:srgbClr val="91D0A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574702" cy="4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rot="5400000">
            <a:off x="13425225" y="5641217"/>
            <a:ext cx="767238" cy="516711"/>
          </a:xfrm>
          <a:custGeom>
            <a:avLst/>
            <a:gdLst/>
            <a:ahLst/>
            <a:cxnLst/>
            <a:rect l="l" t="t" r="r" b="b"/>
            <a:pathLst>
              <a:path w="767238" h="516711">
                <a:moveTo>
                  <a:pt x="0" y="0"/>
                </a:moveTo>
                <a:lnTo>
                  <a:pt x="767238" y="0"/>
                </a:lnTo>
                <a:lnTo>
                  <a:pt x="767238" y="516711"/>
                </a:lnTo>
                <a:lnTo>
                  <a:pt x="0" y="51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1428442" y="6689211"/>
            <a:ext cx="4979750" cy="1170736"/>
            <a:chOff x="0" y="0"/>
            <a:chExt cx="1504497" cy="3537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04497" cy="353706"/>
            </a:xfrm>
            <a:custGeom>
              <a:avLst/>
              <a:gdLst/>
              <a:ahLst/>
              <a:cxnLst/>
              <a:rect l="l" t="t" r="r" b="b"/>
              <a:pathLst>
                <a:path w="1504497" h="353706">
                  <a:moveTo>
                    <a:pt x="0" y="0"/>
                  </a:moveTo>
                  <a:lnTo>
                    <a:pt x="1504497" y="0"/>
                  </a:lnTo>
                  <a:lnTo>
                    <a:pt x="1504497" y="353706"/>
                  </a:lnTo>
                  <a:lnTo>
                    <a:pt x="0" y="35370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504497" cy="401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428442" y="4075685"/>
            <a:ext cx="4845682" cy="871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449" spc="-12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3. 선형적 관계가 없다면, 끼리끼리 </a:t>
            </a:r>
          </a:p>
          <a:p>
            <a:pPr algn="l">
              <a:lnSpc>
                <a:spcPts val="3576"/>
              </a:lnSpc>
            </a:pPr>
            <a:r>
              <a:rPr lang="en-US" sz="2449" spc="-12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뭉치는 </a:t>
            </a:r>
            <a:r>
              <a:rPr lang="en-US" sz="2449" b="1" spc="-12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군집(Cluster)</a:t>
            </a:r>
            <a:r>
              <a:rPr lang="en-US" sz="2449" spc="-12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은 있지 않을까?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81574" y="7059314"/>
            <a:ext cx="3186362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Heavy"/>
                <a:ea typeface="Source Han Sans KR Heavy"/>
                <a:cs typeface="Source Han Sans KR Heavy"/>
                <a:sym typeface="Source Han Sans KR Heavy"/>
              </a:rPr>
              <a:t>K-means Clustering 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도입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726821" y="2110908"/>
            <a:ext cx="5557562" cy="722945"/>
            <a:chOff x="0" y="0"/>
            <a:chExt cx="1679067" cy="2184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79067" cy="218418"/>
            </a:xfrm>
            <a:custGeom>
              <a:avLst/>
              <a:gdLst/>
              <a:ahLst/>
              <a:cxnLst/>
              <a:rect l="l" t="t" r="r" b="b"/>
              <a:pathLst>
                <a:path w="1679067" h="218418">
                  <a:moveTo>
                    <a:pt x="0" y="0"/>
                  </a:moveTo>
                  <a:lnTo>
                    <a:pt x="1679067" y="0"/>
                  </a:lnTo>
                  <a:lnTo>
                    <a:pt x="1679067" y="218418"/>
                  </a:lnTo>
                  <a:lnTo>
                    <a:pt x="0" y="218418"/>
                  </a:lnTo>
                  <a:close/>
                </a:path>
              </a:pathLst>
            </a:custGeom>
            <a:solidFill>
              <a:srgbClr val="91D0A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679067" cy="26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927174" y="2231901"/>
            <a:ext cx="5144062" cy="423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449" spc="-12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1. 음악청취시간과 정신건강 상관관계 분석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726821" y="7049797"/>
            <a:ext cx="5726676" cy="722945"/>
            <a:chOff x="0" y="0"/>
            <a:chExt cx="1730161" cy="21841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730161" cy="218418"/>
            </a:xfrm>
            <a:custGeom>
              <a:avLst/>
              <a:gdLst/>
              <a:ahLst/>
              <a:cxnLst/>
              <a:rect l="l" t="t" r="r" b="b"/>
              <a:pathLst>
                <a:path w="1730161" h="218418">
                  <a:moveTo>
                    <a:pt x="0" y="0"/>
                  </a:moveTo>
                  <a:lnTo>
                    <a:pt x="1730161" y="0"/>
                  </a:lnTo>
                  <a:lnTo>
                    <a:pt x="1730161" y="218418"/>
                  </a:lnTo>
                  <a:lnTo>
                    <a:pt x="0" y="218418"/>
                  </a:lnTo>
                  <a:close/>
                </a:path>
              </a:pathLst>
            </a:custGeom>
            <a:solidFill>
              <a:srgbClr val="91D0A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1730161" cy="26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927174" y="7170790"/>
            <a:ext cx="5526323" cy="423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449" spc="-12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2. 불안 수준을 3단계로 분류하여 예측 모델링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821" y="714375"/>
            <a:ext cx="14853407" cy="1243763"/>
            <a:chOff x="0" y="0"/>
            <a:chExt cx="3912009" cy="3275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12009" cy="327576"/>
            </a:xfrm>
            <a:custGeom>
              <a:avLst/>
              <a:gdLst/>
              <a:ahLst/>
              <a:cxnLst/>
              <a:rect l="l" t="t" r="r" b="b"/>
              <a:pathLst>
                <a:path w="3912009" h="327576">
                  <a:moveTo>
                    <a:pt x="0" y="0"/>
                  </a:moveTo>
                  <a:lnTo>
                    <a:pt x="3912009" y="0"/>
                  </a:lnTo>
                  <a:lnTo>
                    <a:pt x="3912009" y="327576"/>
                  </a:lnTo>
                  <a:lnTo>
                    <a:pt x="0" y="327576"/>
                  </a:lnTo>
                  <a:close/>
                </a:path>
              </a:pathLst>
            </a:custGeom>
            <a:solidFill>
              <a:srgbClr val="0584C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912009" cy="375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34072" y="3057875"/>
            <a:ext cx="6810203" cy="4171249"/>
          </a:xfrm>
          <a:custGeom>
            <a:avLst/>
            <a:gdLst/>
            <a:ahLst/>
            <a:cxnLst/>
            <a:rect l="l" t="t" r="r" b="b"/>
            <a:pathLst>
              <a:path w="6810203" h="4171249">
                <a:moveTo>
                  <a:pt x="0" y="0"/>
                </a:moveTo>
                <a:lnTo>
                  <a:pt x="6810203" y="0"/>
                </a:lnTo>
                <a:lnTo>
                  <a:pt x="6810203" y="4171250"/>
                </a:lnTo>
                <a:lnTo>
                  <a:pt x="0" y="417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434072" y="7342400"/>
            <a:ext cx="5241833" cy="733746"/>
            <a:chOff x="0" y="0"/>
            <a:chExt cx="1583679" cy="2216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3679" cy="221682"/>
            </a:xfrm>
            <a:custGeom>
              <a:avLst/>
              <a:gdLst/>
              <a:ahLst/>
              <a:cxnLst/>
              <a:rect l="l" t="t" r="r" b="b"/>
              <a:pathLst>
                <a:path w="1583679" h="221682">
                  <a:moveTo>
                    <a:pt x="0" y="0"/>
                  </a:moveTo>
                  <a:lnTo>
                    <a:pt x="1583679" y="0"/>
                  </a:lnTo>
                  <a:lnTo>
                    <a:pt x="1583679" y="221682"/>
                  </a:lnTo>
                  <a:lnTo>
                    <a:pt x="0" y="22168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583679" cy="26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527650" y="3057875"/>
            <a:ext cx="5737696" cy="5077861"/>
          </a:xfrm>
          <a:custGeom>
            <a:avLst/>
            <a:gdLst/>
            <a:ahLst/>
            <a:cxnLst/>
            <a:rect l="l" t="t" r="r" b="b"/>
            <a:pathLst>
              <a:path w="5737696" h="5077861">
                <a:moveTo>
                  <a:pt x="0" y="0"/>
                </a:moveTo>
                <a:lnTo>
                  <a:pt x="5737696" y="0"/>
                </a:lnTo>
                <a:lnTo>
                  <a:pt x="5737696" y="5077861"/>
                </a:lnTo>
                <a:lnTo>
                  <a:pt x="0" y="5077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2344447" y="1144695"/>
            <a:ext cx="13637205" cy="47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6"/>
              </a:lnSpc>
            </a:pPr>
            <a:r>
              <a:rPr lang="en-US" sz="3819" b="1" spc="-232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비지도 학습(K-means)을 전처리에 도입하다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02662" y="2327974"/>
            <a:ext cx="4673023" cy="43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375" spc="-205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최적의 군집 수 찾기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7366" y="7494009"/>
            <a:ext cx="5128540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Elbow method를 통해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최적의 군집 k=3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도출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8767" y="2327974"/>
            <a:ext cx="3701934" cy="43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375" spc="-205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군집 시각화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458123" y="7129697"/>
            <a:ext cx="4568104" cy="1494433"/>
            <a:chOff x="0" y="0"/>
            <a:chExt cx="1380129" cy="4515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0129" cy="451503"/>
            </a:xfrm>
            <a:custGeom>
              <a:avLst/>
              <a:gdLst/>
              <a:ahLst/>
              <a:cxnLst/>
              <a:rect l="l" t="t" r="r" b="b"/>
              <a:pathLst>
                <a:path w="1380129" h="451503">
                  <a:moveTo>
                    <a:pt x="0" y="0"/>
                  </a:moveTo>
                  <a:lnTo>
                    <a:pt x="1380129" y="0"/>
                  </a:lnTo>
                  <a:lnTo>
                    <a:pt x="1380129" y="451503"/>
                  </a:lnTo>
                  <a:lnTo>
                    <a:pt x="0" y="45150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380129" cy="499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571416" y="7252074"/>
            <a:ext cx="4136752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Cluster 0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정신건강 취약 그룹</a:t>
            </a:r>
          </a:p>
          <a:p>
            <a:pPr algn="ctr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Cluster 1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정신건강 양호 그룹</a:t>
            </a:r>
          </a:p>
          <a:p>
            <a:pPr algn="ctr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Cluster 2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특정 증상 취약 그룹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407128" y="8674402"/>
            <a:ext cx="10632471" cy="1044793"/>
            <a:chOff x="0" y="0"/>
            <a:chExt cx="3303856" cy="3275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03856" cy="327576"/>
            </a:xfrm>
            <a:custGeom>
              <a:avLst/>
              <a:gdLst/>
              <a:ahLst/>
              <a:cxnLst/>
              <a:rect l="l" t="t" r="r" b="b"/>
              <a:pathLst>
                <a:path w="3303856" h="327576">
                  <a:moveTo>
                    <a:pt x="0" y="0"/>
                  </a:moveTo>
                  <a:lnTo>
                    <a:pt x="3303856" y="0"/>
                  </a:lnTo>
                  <a:lnTo>
                    <a:pt x="3303856" y="327576"/>
                  </a:lnTo>
                  <a:lnTo>
                    <a:pt x="0" y="327576"/>
                  </a:ln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303856" cy="375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649303" y="9007924"/>
            <a:ext cx="10161697" cy="394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&gt;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비지도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학습을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통해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,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데이터의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숨겨진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맥락을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새로운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변수로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발굴</a:t>
            </a:r>
            <a:endParaRPr lang="en-US" sz="3112" b="1" spc="-189" dirty="0">
              <a:solidFill>
                <a:srgbClr val="222222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821" y="714375"/>
            <a:ext cx="14853407" cy="1243763"/>
            <a:chOff x="0" y="0"/>
            <a:chExt cx="3912009" cy="3275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12009" cy="327576"/>
            </a:xfrm>
            <a:custGeom>
              <a:avLst/>
              <a:gdLst/>
              <a:ahLst/>
              <a:cxnLst/>
              <a:rect l="l" t="t" r="r" b="b"/>
              <a:pathLst>
                <a:path w="3912009" h="327576">
                  <a:moveTo>
                    <a:pt x="0" y="0"/>
                  </a:moveTo>
                  <a:lnTo>
                    <a:pt x="3912009" y="0"/>
                  </a:lnTo>
                  <a:lnTo>
                    <a:pt x="3912009" y="327576"/>
                  </a:lnTo>
                  <a:lnTo>
                    <a:pt x="0" y="327576"/>
                  </a:lnTo>
                  <a:close/>
                </a:path>
              </a:pathLst>
            </a:custGeom>
            <a:solidFill>
              <a:srgbClr val="0584C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912009" cy="375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798924" y="3002030"/>
            <a:ext cx="6914362" cy="6689645"/>
          </a:xfrm>
          <a:custGeom>
            <a:avLst/>
            <a:gdLst/>
            <a:ahLst/>
            <a:cxnLst/>
            <a:rect l="l" t="t" r="r" b="b"/>
            <a:pathLst>
              <a:path w="6914362" h="6689645">
                <a:moveTo>
                  <a:pt x="0" y="0"/>
                </a:moveTo>
                <a:lnTo>
                  <a:pt x="6914362" y="0"/>
                </a:lnTo>
                <a:lnTo>
                  <a:pt x="6914362" y="6689645"/>
                </a:lnTo>
                <a:lnTo>
                  <a:pt x="0" y="668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162076" y="8922008"/>
            <a:ext cx="11258523" cy="1044793"/>
            <a:chOff x="0" y="0"/>
            <a:chExt cx="3375784" cy="3275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75784" cy="327576"/>
            </a:xfrm>
            <a:custGeom>
              <a:avLst/>
              <a:gdLst/>
              <a:ahLst/>
              <a:cxnLst/>
              <a:rect l="l" t="t" r="r" b="b"/>
              <a:pathLst>
                <a:path w="3375784" h="327576">
                  <a:moveTo>
                    <a:pt x="0" y="0"/>
                  </a:moveTo>
                  <a:lnTo>
                    <a:pt x="3375784" y="0"/>
                  </a:lnTo>
                  <a:lnTo>
                    <a:pt x="3375784" y="327576"/>
                  </a:lnTo>
                  <a:lnTo>
                    <a:pt x="0" y="327576"/>
                  </a:ln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375784" cy="375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62077" y="4420667"/>
            <a:ext cx="6322301" cy="3572100"/>
          </a:xfrm>
          <a:custGeom>
            <a:avLst/>
            <a:gdLst/>
            <a:ahLst/>
            <a:cxnLst/>
            <a:rect l="l" t="t" r="r" b="b"/>
            <a:pathLst>
              <a:path w="6322301" h="3572100">
                <a:moveTo>
                  <a:pt x="0" y="0"/>
                </a:moveTo>
                <a:lnTo>
                  <a:pt x="6322301" y="0"/>
                </a:lnTo>
                <a:lnTo>
                  <a:pt x="6322301" y="3572100"/>
                </a:lnTo>
                <a:lnTo>
                  <a:pt x="0" y="3572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546436" y="7063464"/>
            <a:ext cx="4937942" cy="1507975"/>
            <a:chOff x="0" y="0"/>
            <a:chExt cx="1491866" cy="4555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91866" cy="455594"/>
            </a:xfrm>
            <a:custGeom>
              <a:avLst/>
              <a:gdLst/>
              <a:ahLst/>
              <a:cxnLst/>
              <a:rect l="l" t="t" r="r" b="b"/>
              <a:pathLst>
                <a:path w="1491866" h="455594">
                  <a:moveTo>
                    <a:pt x="0" y="0"/>
                  </a:moveTo>
                  <a:lnTo>
                    <a:pt x="1491866" y="0"/>
                  </a:lnTo>
                  <a:lnTo>
                    <a:pt x="1491866" y="455594"/>
                  </a:lnTo>
                  <a:lnTo>
                    <a:pt x="0" y="45559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491866" cy="503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3162743"/>
            <a:ext cx="6589054" cy="1153149"/>
            <a:chOff x="0" y="0"/>
            <a:chExt cx="1990705" cy="3483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90705" cy="348393"/>
            </a:xfrm>
            <a:custGeom>
              <a:avLst/>
              <a:gdLst/>
              <a:ahLst/>
              <a:cxnLst/>
              <a:rect l="l" t="t" r="r" b="b"/>
              <a:pathLst>
                <a:path w="1990705" h="348393">
                  <a:moveTo>
                    <a:pt x="0" y="0"/>
                  </a:moveTo>
                  <a:lnTo>
                    <a:pt x="1990705" y="0"/>
                  </a:lnTo>
                  <a:lnTo>
                    <a:pt x="1990705" y="348393"/>
                  </a:lnTo>
                  <a:lnTo>
                    <a:pt x="0" y="34839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990705" cy="39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44447" y="1144695"/>
            <a:ext cx="13637205" cy="47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6"/>
              </a:lnSpc>
            </a:pPr>
            <a:r>
              <a:rPr lang="en-US" sz="3819" b="1" spc="-232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하이브리드 모델링의 승리 : 정확도 26% 향상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82504" y="2388622"/>
            <a:ext cx="4190123" cy="43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375" spc="-205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하이브리드 모델링 성과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55664" y="2388622"/>
            <a:ext cx="4673023" cy="43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375" spc="-205">
                <a:solidFill>
                  <a:srgbClr val="222222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정성적 인사이트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4250" y="9255530"/>
            <a:ext cx="10863949" cy="394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&gt;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불완전한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데이터도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‘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군집’을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이해하면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해결할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수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있다는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확신을</a:t>
            </a:r>
            <a:r>
              <a:rPr lang="en-US" sz="3112" b="1" spc="-189" dirty="0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3112" b="1" spc="-189" dirty="0" err="1">
                <a:solidFill>
                  <a:srgbClr val="22222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얻다</a:t>
            </a:r>
            <a:endParaRPr lang="en-US" sz="3112" b="1" spc="-189" dirty="0">
              <a:solidFill>
                <a:srgbClr val="222222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659729" y="7185841"/>
            <a:ext cx="4644701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Before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정확도 61%</a:t>
            </a:r>
          </a:p>
          <a:p>
            <a:pPr algn="ctr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After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정확도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87%</a:t>
            </a:r>
          </a:p>
          <a:p>
            <a:pPr algn="ctr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Pivot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점수 예측 한계 → 유형 분류 성공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1994" y="3285119"/>
            <a:ext cx="6350175" cy="79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Cluster Labeling ⟶ Feature Engineering</a:t>
            </a:r>
          </a:p>
          <a:p>
            <a:pPr algn="ctr">
              <a:lnSpc>
                <a:spcPts val="3285"/>
              </a:lnSpc>
            </a:pP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앞서 도출한 군집을 새로운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독립변수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로 추가하여 학습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144634" y="5459500"/>
            <a:ext cx="4568104" cy="2836936"/>
            <a:chOff x="0" y="0"/>
            <a:chExt cx="1380129" cy="8571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80129" cy="857104"/>
            </a:xfrm>
            <a:custGeom>
              <a:avLst/>
              <a:gdLst/>
              <a:ahLst/>
              <a:cxnLst/>
              <a:rect l="l" t="t" r="r" b="b"/>
              <a:pathLst>
                <a:path w="1380129" h="857104">
                  <a:moveTo>
                    <a:pt x="0" y="0"/>
                  </a:moveTo>
                  <a:lnTo>
                    <a:pt x="1380129" y="0"/>
                  </a:lnTo>
                  <a:lnTo>
                    <a:pt x="1380129" y="857104"/>
                  </a:lnTo>
                  <a:lnTo>
                    <a:pt x="0" y="85710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380129" cy="904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360310" y="5786664"/>
            <a:ext cx="4136752" cy="2021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Key Finding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강박증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우울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등의 </a:t>
            </a:r>
          </a:p>
          <a:p>
            <a:pPr algn="ctr">
              <a:lnSpc>
                <a:spcPts val="3285"/>
              </a:lnSpc>
            </a:pP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심리적인 요인이 예측에 더 결정적</a:t>
            </a:r>
          </a:p>
          <a:p>
            <a:pPr algn="ctr">
              <a:lnSpc>
                <a:spcPts val="3285"/>
              </a:lnSpc>
            </a:pPr>
            <a:endParaRPr lang="en-US" sz="2250" spc="-114">
              <a:solidFill>
                <a:srgbClr val="222222">
                  <a:alpha val="61961"/>
                </a:srgbClr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algn="ctr">
              <a:lnSpc>
                <a:spcPts val="3285"/>
              </a:lnSpc>
            </a:pPr>
            <a:r>
              <a:rPr lang="en-US" sz="2250" b="1" spc="-114">
                <a:solidFill>
                  <a:srgbClr val="222222">
                    <a:alpha val="61961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Insight</a:t>
            </a: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: 정신건강의 패턴이 음악 </a:t>
            </a:r>
          </a:p>
          <a:p>
            <a:pPr algn="ctr">
              <a:lnSpc>
                <a:spcPts val="3285"/>
              </a:lnSpc>
            </a:pPr>
            <a:r>
              <a:rPr lang="en-US" sz="2250" spc="-114">
                <a:solidFill>
                  <a:srgbClr val="222222">
                    <a:alpha val="61961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습관보다 더 강력한 Signal이었다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342</Words>
  <Application>Microsoft Office PowerPoint</Application>
  <PresentationFormat>사용자 지정</PresentationFormat>
  <Paragraphs>53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Source Han Sans KR Bold</vt:lpstr>
      <vt:lpstr>Calibri</vt:lpstr>
      <vt:lpstr>Arial</vt:lpstr>
      <vt:lpstr>Source Han Sans KR Medium</vt:lpstr>
      <vt:lpstr>Source Han Sans KR Heavy</vt:lpstr>
      <vt:lpstr>Source Han Sans KR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한국애질런트테크놀로지스 발표PPT</dc:title>
  <dc:creator>HYWoman</dc:creator>
  <cp:lastModifiedBy>LeeKaeun</cp:lastModifiedBy>
  <cp:revision>17</cp:revision>
  <dcterms:created xsi:type="dcterms:W3CDTF">2006-08-16T00:00:00Z</dcterms:created>
  <dcterms:modified xsi:type="dcterms:W3CDTF">2025-12-26T10:35:01Z</dcterms:modified>
  <dc:identifier>DAG6cAwG2bM</dc:identifier>
</cp:coreProperties>
</file>